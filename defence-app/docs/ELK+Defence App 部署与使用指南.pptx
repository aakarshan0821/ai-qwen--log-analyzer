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8.svg" ContentType="image/svg+xml"/>
  <Override PartName="/ppt/media/image110.svg" ContentType="image/svg+xml"/>
  <Override PartName="/ppt/media/image113.svg" ContentType="image/svg+xml"/>
  <Override PartName="/ppt/media/image115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大家好，今天我将为大家详细介绍如何搭建一个基于ELK和Defence App的日志分析平台。我们将从项目概述开始，逐步讲解环境准备、ELK部署、pfSense配置、Defence App的安装与使用，以及常见问题的排查。希望通过这次分享，能帮助大家快速掌握这套日志分析系统的搭建方法。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本次分享将分为九个部分。首先，我们会对整个项目进行概述，了解其系统架构和核心功能。接着，我们会详细讲解部署前的环境准备工作。之后，将分步骤演示ELK、pfSense和Defence App的具体部署与配置过程。在功能演示部分，我会展示平台的实际使用效果。最后，我们还会介绍关键配置、常见问题排查，并对整个项目进行总结与展望。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现在，让我们进入第一部分：项目概述。在这一部分，我们将了解Defence App是什么，以及它的整体系统架构和核心功能。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Defence App是一个轻量级的Web应用，它的核心目标是帮助我们更高效地检索和分析存储在Elasticsearch中的各类日志，包括安全日志、网络日志等。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它在前端展示、日志检测逻辑、AI交互体验和系统稳定性方面都做了显著增强，适用于从本地开发到服务器部署的多种场景。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整个系统的架构图。数据从pfSense防火墙开始，通过标准的Syslog协议发送到Logstash。Logstash负责日志的收集、过滤和转换。处理后的日志会被存储到Elasticsearch中进行索引和检索。我们可以通过Kibana进行基础的日志可视化，而Defence App则在此基础上，提供了更强大的日志分析和AI总结能力。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了解了项目概况后，我们进入第二部分：环境准备。在开始部署之前，我们需要准备好合适的服务器环境并安装必要的软件。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我们推荐使用Ubuntu 22.04或更高版本的服务器系统。整个部署的核心依赖是Docker和Docker Compose，它们可以帮助我们快速、隔离地部署ELK和Defence App。大家可以通过屏幕上的命令来安装和启动Docker服务。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环境准备就绪后，我们来部署核心的ELK组件。我们将使用Docker Compose来一键式搭建Elasticsearch、Logstash和Kibana。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用于编排ELK服务的docker-compose.yml文件。这里定义了三个服务：Elasticsearch、Kibana和Logstash。特别需要注意的是，我们为Elasticsearch设置了单节点模式并关闭了安全功能，这对于快速部署和测试非常方便。同时，Logstash的5140 UDP端口被映射出来，这是我们接收pfSense日志的关键。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Logstash的核心配置文件是pfsense.conf。这个文件定义了日志的处理流程。它首先通过UDP输入插件接收日志，然后使用Grok模式进行初步解析。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最关键的一步是使用Ruby代码，将pfSense原始的、用逗号分隔的日志拆分成一个个标准化的字段，比如pfsense.column19对应源IP。这样Defence App就能轻松地对这些字段进行查询和分析了。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配置文件准备好后，我们只需执行docker compose up -d命令即可后台启动所有ELK服务。启动后，我们可以通过一系列命令来验证服务是否正常运行。比如，检查容器状态，通过curl命令访问Elasticsearch的API，或者直接在浏览器中打开Kibana的地址。同时，查看Logstash的日志可以帮助我们排查日志接收是否有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ELK部署完成后，我们需要配置pfSense，让它将日志发送到我们的Logstash服务器。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pfSense的系统日志设置页面，我们需要完成几个关键配置。首先，勾选“启用远程日志”。然后，在远程日志服务器地址栏中，填入我们Logstash服务器的IP和5140端口。最后，选择要发送的日志类型，这里我们至少要勾选防火墙事件日志。保存配置后，pfSense就会开始将日志发送到我们的ELK平台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现在，日志已经能成功收集到Elasticsearch中了。接下来，我们部署Defence App，让它来对这些日志进行更智能的分析。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Defence App的安装过程也很简单。首先，我们需要为它创建一个Python虚拟环境并安装所需的依赖。然后，复制环境变量模板并修改其中的关键配置。最重要的是设置Elasticsearch的地址和日志索引模式，这样App才能找到我们的日志数据。如果需要使用AI总结功能，还需要在这里配置千问的API密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配置完成后，我们可以用uvicorn命令启动Defence App。启动后，可以通过访问7860端口或调用health接口来验证服务是否正常。为了让应用能够长期稳定运行，强烈建议使用systemd来管理它，配置为开机自启，这样即使服务器重启，应用也能自动恢复。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所有组件都部署完成后，我们来看看Defence App到底能做些什么。这一部分，我将为大家演示它的核心功能。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Defence App的核心功能主要分为四个部分。首先是灵活的日志检索功能。其次，它内置了可疑事件检测规则，能自动发现潜在的安全威胁。最强大的是它的AI总结能力，可以让我们快速了解日志的核心内容。此外，它还提供了完善的系统监控功能，确保平台自身的稳定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了解了基本功能后，我们来深入了解一下Defence App的一些关键配置项和API接口，这对于定制化和二次开发非常有帮助。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列出了一些最重要的配置项和API接口。通过修改配置文件，我们可以调整检测窗口、定义高危端口等。同时，App也提供了丰富的API接口，方便我们进行自动化操作或与其他系统集成，比如通过API获取检测结果或触发手动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在部署和使用过程中，难免会遇到一些问题。这一部分，我们将讨论几个最常见的故障及其排查和解决方法。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总结了三个最常见的问题。比如，App查不到日志，通常是索引配置或时间范围的问题。如果日志没有进入ES，则需要检查pfSense到Logstash的链路是否通畅。AI功能异常则需要检查API密钥和网络连通性。遇到问题时，可以按照这个思路逐一排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总结一下，我们今天学习了如何使用Docker快速部署ELK，并结合pfSense和Defence App，构建了一个功能完整的日志分析平台。这个平台不仅能帮助我们集中管理日志，还能通过AI进行智能分析，大大提升了我们处理安全事件的效率。未来，我们还可以继续扩展它的能力，比如支持更多日志源，或者开发更复杂的检测规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我的分享到此结束，感谢大家的观看。现在是问答环节，大家有什么问题可以随时提出。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image" Target="../media/image6.sv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9" Type="http://schemas.openxmlformats.org/officeDocument/2006/relationships/image" Target="../media/image20.svg"/><Relationship Id="rId18" Type="http://schemas.openxmlformats.org/officeDocument/2006/relationships/image" Target="../media/image19.png"/><Relationship Id="rId17" Type="http://schemas.openxmlformats.org/officeDocument/2006/relationships/image" Target="../media/image18.svg"/><Relationship Id="rId16" Type="http://schemas.openxmlformats.org/officeDocument/2006/relationships/image" Target="../media/image17.png"/><Relationship Id="rId15" Type="http://schemas.openxmlformats.org/officeDocument/2006/relationships/image" Target="../media/image16.svg"/><Relationship Id="rId14" Type="http://schemas.openxmlformats.org/officeDocument/2006/relationships/image" Target="../media/image15.png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39.png"/><Relationship Id="rId7" Type="http://schemas.openxmlformats.org/officeDocument/2006/relationships/image" Target="../media/image38.svg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6.svg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2.svg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svg"/><Relationship Id="rId8" Type="http://schemas.openxmlformats.org/officeDocument/2006/relationships/image" Target="../media/image59.png"/><Relationship Id="rId7" Type="http://schemas.openxmlformats.org/officeDocument/2006/relationships/image" Target="../media/image58.svg"/><Relationship Id="rId6" Type="http://schemas.openxmlformats.org/officeDocument/2006/relationships/image" Target="../media/image57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2.svg"/><Relationship Id="rId10" Type="http://schemas.openxmlformats.org/officeDocument/2006/relationships/image" Target="../media/image61.pn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0.svg"/><Relationship Id="rId7" Type="http://schemas.openxmlformats.org/officeDocument/2006/relationships/image" Target="../media/image69.png"/><Relationship Id="rId6" Type="http://schemas.openxmlformats.org/officeDocument/2006/relationships/image" Target="../media/image3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svg"/><Relationship Id="rId8" Type="http://schemas.openxmlformats.org/officeDocument/2006/relationships/image" Target="../media/image78.png"/><Relationship Id="rId7" Type="http://schemas.openxmlformats.org/officeDocument/2006/relationships/image" Target="../media/image8.svg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7" Type="http://schemas.openxmlformats.org/officeDocument/2006/relationships/notesSlide" Target="../notesSlides/notesSlide15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85.svg"/><Relationship Id="rId14" Type="http://schemas.openxmlformats.org/officeDocument/2006/relationships/image" Target="../media/image84.png"/><Relationship Id="rId13" Type="http://schemas.openxmlformats.org/officeDocument/2006/relationships/image" Target="../media/image83.svg"/><Relationship Id="rId12" Type="http://schemas.openxmlformats.org/officeDocument/2006/relationships/image" Target="../media/image82.png"/><Relationship Id="rId11" Type="http://schemas.openxmlformats.org/officeDocument/2006/relationships/image" Target="../media/image81.svg"/><Relationship Id="rId10" Type="http://schemas.openxmlformats.org/officeDocument/2006/relationships/image" Target="../media/image80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7.svg"/><Relationship Id="rId6" Type="http://schemas.openxmlformats.org/officeDocument/2006/relationships/image" Target="../media/image86.png"/><Relationship Id="rId5" Type="http://schemas.openxmlformats.org/officeDocument/2006/relationships/image" Target="../media/image81.svg"/><Relationship Id="rId4" Type="http://schemas.openxmlformats.org/officeDocument/2006/relationships/image" Target="../media/image80.png"/><Relationship Id="rId3" Type="http://schemas.openxmlformats.org/officeDocument/2006/relationships/image" Target="../media/image3.svg"/><Relationship Id="rId2" Type="http://schemas.openxmlformats.org/officeDocument/2006/relationships/image" Target="../media/image68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9.svg"/><Relationship Id="rId2" Type="http://schemas.openxmlformats.org/officeDocument/2006/relationships/image" Target="../media/image88.pn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95.svg"/><Relationship Id="rId7" Type="http://schemas.openxmlformats.org/officeDocument/2006/relationships/image" Target="../media/image94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25.svg"/><Relationship Id="rId3" Type="http://schemas.openxmlformats.org/officeDocument/2006/relationships/image" Target="../media/image91.png"/><Relationship Id="rId2" Type="http://schemas.openxmlformats.org/officeDocument/2006/relationships/image" Target="../media/image90.jpeg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7.svg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9.svg"/><Relationship Id="rId2" Type="http://schemas.openxmlformats.org/officeDocument/2006/relationships/image" Target="../media/image98.pn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.svg"/><Relationship Id="rId8" Type="http://schemas.openxmlformats.org/officeDocument/2006/relationships/image" Target="../media/image92.png"/><Relationship Id="rId7" Type="http://schemas.openxmlformats.org/officeDocument/2006/relationships/image" Target="../media/image105.svg"/><Relationship Id="rId6" Type="http://schemas.openxmlformats.org/officeDocument/2006/relationships/image" Target="../media/image104.png"/><Relationship Id="rId5" Type="http://schemas.openxmlformats.org/officeDocument/2006/relationships/image" Target="../media/image103.svg"/><Relationship Id="rId4" Type="http://schemas.openxmlformats.org/officeDocument/2006/relationships/image" Target="../media/image102.png"/><Relationship Id="rId3" Type="http://schemas.openxmlformats.org/officeDocument/2006/relationships/image" Target="../media/image101.svg"/><Relationship Id="rId2" Type="http://schemas.openxmlformats.org/officeDocument/2006/relationships/image" Target="../media/image100.png"/><Relationship Id="rId19" Type="http://schemas.openxmlformats.org/officeDocument/2006/relationships/notesSlide" Target="../notesSlides/notesSlide20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108.svg"/><Relationship Id="rId16" Type="http://schemas.openxmlformats.org/officeDocument/2006/relationships/image" Target="../media/image107.png"/><Relationship Id="rId15" Type="http://schemas.openxmlformats.org/officeDocument/2006/relationships/image" Target="../media/image85.svg"/><Relationship Id="rId14" Type="http://schemas.openxmlformats.org/officeDocument/2006/relationships/image" Target="../media/image84.png"/><Relationship Id="rId13" Type="http://schemas.openxmlformats.org/officeDocument/2006/relationships/image" Target="../media/image34.svg"/><Relationship Id="rId12" Type="http://schemas.openxmlformats.org/officeDocument/2006/relationships/image" Target="../media/image106.png"/><Relationship Id="rId11" Type="http://schemas.openxmlformats.org/officeDocument/2006/relationships/image" Target="../media/image83.svg"/><Relationship Id="rId10" Type="http://schemas.openxmlformats.org/officeDocument/2006/relationships/image" Target="../media/image82.png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0.svg"/><Relationship Id="rId2" Type="http://schemas.openxmlformats.org/officeDocument/2006/relationships/image" Target="../media/image109.pn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5.svg"/><Relationship Id="rId6" Type="http://schemas.openxmlformats.org/officeDocument/2006/relationships/image" Target="../media/image94.png"/><Relationship Id="rId5" Type="http://schemas.openxmlformats.org/officeDocument/2006/relationships/image" Target="../media/image32.svg"/><Relationship Id="rId4" Type="http://schemas.openxmlformats.org/officeDocument/2006/relationships/image" Target="../media/image111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13.svg"/><Relationship Id="rId4" Type="http://schemas.openxmlformats.org/officeDocument/2006/relationships/image" Target="../media/image112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16.png"/><Relationship Id="rId3" Type="http://schemas.openxmlformats.org/officeDocument/2006/relationships/image" Target="../media/image115.svg"/><Relationship Id="rId2" Type="http://schemas.openxmlformats.org/officeDocument/2006/relationships/image" Target="../media/image114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50000">
                <a:srgbClr val="40E0D0">
                  <a:alpha val="100000"/>
                </a:srgbClr>
              </a:gs>
              <a:gs pos="100000">
                <a:srgbClr val="9370D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58800" y="1905000"/>
            <a:ext cx="11074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ELK+Defence App 部署与使用指南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279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cap="flat" cmpd="sng">
            <a:solidFill>
              <a:srgbClr val="00AC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基于Docker与pfSense的</a:t>
            </a:r>
            <a:r>
              <a:rPr lang="en-US" sz="2000" b="0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AI日志分析平台搭建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191000" y="5334000"/>
            <a:ext cx="3810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318000" y="5397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汇报人：[您的姓名] | 日期：2026年3月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1270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69">
            <a:off x="762040" y="120015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0E0D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1524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14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165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460500" y="203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系统架构与核心功能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524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714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43500" y="165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环境准备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143500" y="203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服务器与软件依赖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524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1714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26500" y="165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ELK部署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26500" y="203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使用Docker Compose搭建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28575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04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460500" y="298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pfSense配置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460500" y="3365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远程日志转发设置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445000" y="28575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35500" y="3048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143500" y="298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Defence App部署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143500" y="3365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应用安装与配置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28575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18500" y="30480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826500" y="298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功能演示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26500" y="3365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日志检索与AI分析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4191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70D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2500" y="43815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460500" y="431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关键配置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460500" y="4699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核心参数与接口说明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445000" y="4191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70D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35500" y="4381500"/>
            <a:ext cx="406400" cy="4064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5143500" y="431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问题排查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143500" y="4699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常见故障与解决方案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128000" y="4191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70D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18500" y="4381500"/>
            <a:ext cx="406400" cy="4064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8826500" y="431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总结与展望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8826500" y="4699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BE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未来规划与改进方向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85000"/>
                </a:srgbClr>
              </a:gs>
              <a:gs pos="100000">
                <a:srgbClr val="000000">
                  <a:alpha val="4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26797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66800" y="3048000"/>
            <a:ext cx="76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40E0D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302000"/>
            <a:ext cx="223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000500"/>
            <a:ext cx="335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系统架构与核心功能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080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51562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DEFENCE APP SYSTEM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Defence App 项目简介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58" b="158"/>
          <a:stretch>
            <a:fillRect/>
          </a:stretch>
        </p:blipFill>
        <p:spPr>
          <a:xfrm>
            <a:off x="762000" y="1651000"/>
            <a:ext cx="3556000" cy="1993900"/>
          </a:xfrm>
          <a:prstGeom prst="roundRect">
            <a:avLst>
              <a:gd name="adj" fmla="val 6369"/>
            </a:avLst>
          </a:prstGeom>
          <a:noFill/>
          <a:ln w="254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00BFFF">
                <a:alpha val="3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3937000"/>
            <a:ext cx="355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40640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 Tech Stack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381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FastAPI • Jinja2 • JavaScript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826000" y="1524000"/>
            <a:ext cx="635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500" y="17653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88000" y="1625600"/>
            <a:ext cx="546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核心目标：检索与分析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588000" y="19558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高效检索和分析 Elasticsearch 中的安全日志、网络日志及服务器日志。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26000" y="2603500"/>
            <a:ext cx="635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0E0D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6500" y="2844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88000" y="2705100"/>
            <a:ext cx="546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主要增强：体验与性能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588000" y="30353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前端卡片化展示、分批日志检测、AI交互优化及系统稳定性提升。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826000" y="3683000"/>
            <a:ext cx="635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70D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500" y="39243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588000" y="3784600"/>
            <a:ext cx="546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应用场景：灵活部署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588000" y="41148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支持本地开发调试、实验室/内网部署及 Ubuntu 服务器长期稳定运行。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4092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Lightweight Web Application for Security Log Analysis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006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64000" y="1397000"/>
            <a:ext cx="4064000" cy="2286000"/>
          </a:xfrm>
          <a:prstGeom prst="roundRect">
            <a:avLst>
              <a:gd name="adj" fmla="val 5555"/>
            </a:avLst>
          </a:prstGeom>
          <a:noFill/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BFFF">
                <a:alpha val="2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3937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127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4089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数据采集与处理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460500" y="4445000"/>
            <a:ext cx="431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pfSense 防火墙通过 UDP Syslog 协议将日志发送至 Logstash，由其进行过滤、转换等预处理。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3937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70D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4127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21500" y="4089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存储与智能分析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21500" y="4445000"/>
            <a:ext cx="431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处理后的数据存入 Elasticsearch 集群；Kibana 负责可视化分析，Defence App 提供高级检索与 AI 分析能力。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092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62000" y="5715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ELK Stack 的企业级安全日志分析平台架构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9370D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419600" y="1270000"/>
            <a:ext cx="33528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191000" y="3048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spc="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环境准备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810000"/>
            <a:ext cx="7620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556000" y="4064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C8C8DC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服务器与软件依赖配置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370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INFRASTRUCTURE &amp; DEPENDENCIES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4699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环境准备：服务器与Docker安装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714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推荐系统环境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2095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Ubuntu 22.04 LTS 或更高版本，确保内核兼容性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048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70D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29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238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核心依赖组件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651000" y="3619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Docker Engine 与 Docker Compose，实现容器化部署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1524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000000">
              <a:alpha val="6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BFFF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096000" y="1524000"/>
            <a:ext cx="48260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00" y="1612900"/>
            <a:ext cx="203200" cy="203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540500" y="15875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Terminal — Install Docker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2032000"/>
            <a:ext cx="457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0E0D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</a:t>
            </a:r>
            <a:r>
              <a:rPr lang="en-US" sz="13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sudo apt update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0E0D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</a:t>
            </a:r>
            <a:r>
              <a:rPr lang="en-US" sz="13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sudo apt install -y docker.io docker-compose-plugin</a:t>
            </a:r>
            <a:endParaRPr lang="en-US" sz="13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0E0D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</a:t>
            </a:r>
            <a:r>
              <a:rPr lang="en-US" sz="13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sudo systemctl enable docker</a:t>
            </a:r>
            <a:endParaRPr lang="en-US" sz="13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0E0D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</a:t>
            </a:r>
            <a:r>
              <a:rPr lang="en-US" sz="13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sudo systemctl start docker</a:t>
            </a:r>
            <a:endParaRPr lang="en-US" sz="13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4826000"/>
            <a:ext cx="10160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054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460500" y="4953000"/>
            <a:ext cx="927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提示：安装完成后，请执行</a:t>
            </a:r>
            <a:r>
              <a:rPr lang="en-US" sz="1400" b="1" i="0" u="none" strike="noStrike">
                <a:solidFill>
                  <a:srgbClr val="40E0D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docker --version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验证安装是否成功。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50A1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1397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" y="2730500"/>
            <a:ext cx="1016000" cy="50800"/>
          </a:xfrm>
          <a:prstGeom prst="roundRect">
            <a:avLst>
              <a:gd name="adj" fmla="val 0"/>
            </a:avLst>
          </a:prstGeom>
          <a:solidFill>
            <a:srgbClr val="9370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298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ELK 部署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9600" y="3619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Docker Compose 快速搭建日志分析平台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318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71600" y="444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容器化部署方案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ELK容器编排：docker-compose.yml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588000" cy="3556000"/>
          </a:xfrm>
          <a:prstGeom prst="roundRect">
            <a:avLst>
              <a:gd name="adj" fmla="val 3571"/>
            </a:avLst>
          </a:prstGeom>
          <a:solidFill>
            <a:srgbClr val="000000">
              <a:alpha val="6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397000"/>
            <a:ext cx="5588000" cy="381000"/>
          </a:xfrm>
          <a:prstGeom prst="roundRect">
            <a:avLst>
              <a:gd name="adj" fmla="val 0"/>
            </a:avLst>
          </a:prstGeom>
          <a:solidFill>
            <a:srgbClr val="00B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1460500"/>
            <a:ext cx="533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docker-compose.yml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1841500"/>
            <a:ext cx="533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version:</a:t>
            </a: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'3.8'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services:</a:t>
            </a:r>
            <a:endParaRPr lang="en-US" sz="1200" b="1" i="0" u="none" strike="noStrike">
              <a:solidFill>
                <a:srgbClr val="9370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es01: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image: docker.elastic.co/elasticsearch/elasticsearch:8.13.0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environment: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en-US" sz="1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discovery.type=single-node</a:t>
            </a:r>
            <a:endParaRPr lang="en-US" sz="1200" b="1" i="0" u="none" strike="noStrike">
              <a:solidFill>
                <a:srgbClr val="40E0D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en-US" sz="1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xpack.security.enabled=false</a:t>
            </a:r>
            <a:endParaRPr lang="en-US" sz="1200" b="1" i="0" u="none" strike="noStrike">
              <a:solidFill>
                <a:srgbClr val="40E0D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logstash: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ports: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en-US" sz="1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"5140:5140/udp"</a:t>
            </a:r>
            <a:endParaRPr lang="en-US" sz="1200" b="1" i="0" u="none" strike="noStrike">
              <a:solidFill>
                <a:srgbClr val="40E0D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volumes: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./logstash/config:/usr/share/logstash/pipeline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604000" y="1397000"/>
            <a:ext cx="457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0" y="1701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02500" y="1524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Elasticsearch 配置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设置为单节点模式，关闭安全认证，便于快速部署与测试。</a:t>
            </a: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604000" y="2603500"/>
            <a:ext cx="457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70D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500" y="2908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02500" y="2730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Kibana 可视化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自动连接本地 Elasticsearch，提供开箱即用的日志分析仪表盘。</a:t>
            </a: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604000" y="3810000"/>
            <a:ext cx="457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4500" y="4114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02500" y="3937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Logstash 日志收集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暴露 UDP 5140 端口，专门用于接收 pfSense 防火墙的日志数据。</a:t>
            </a: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docker-compose 一键启动 ELK 服务栈，实现日志的高效采集、存储与可视化分析。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Logstash日志处理：pfsense.conf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5080000" cy="381000"/>
          </a:xfrm>
          <a:prstGeom prst="roundRect">
            <a:avLst>
              <a:gd name="adj" fmla="val 0"/>
            </a:avLst>
          </a:prstGeom>
          <a:solidFill>
            <a:srgbClr val="33415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1651000"/>
            <a:ext cx="127000" cy="1270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06500" y="1651000"/>
            <a:ext cx="127000" cy="1270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460500" y="1651000"/>
            <a:ext cx="127000" cy="127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9000" y="2032000"/>
            <a:ext cx="4826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filter {</a:t>
            </a:r>
            <a:endParaRPr lang="en-US" sz="1100"/>
          </a:p>
          <a:p>
            <a:pPr marL="2540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grok {</a:t>
            </a:r>
            <a:endParaRPr lang="en-US" sz="1300" b="0" i="0" u="none" strike="noStrike">
              <a:solidFill>
                <a:srgbClr val="61AFE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5080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06C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match</a:t>
            </a:r>
            <a:r>
              <a:rPr lang="en-US" sz="13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=&gt; {</a:t>
            </a:r>
            <a:r>
              <a:rPr lang="en-US" sz="13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"message"</a:t>
            </a:r>
            <a:r>
              <a:rPr lang="en-US" sz="13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=&gt;</a:t>
            </a:r>
            <a:r>
              <a:rPr lang="en-US" sz="13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"%{SYSLOGTIMESTAMP:timestamp}..."</a:t>
            </a:r>
            <a:r>
              <a:rPr lang="en-US" sz="13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300" b="0" i="0" u="none" strike="noStrike">
              <a:solidFill>
                <a:srgbClr val="ABB2B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300" b="0" i="0" u="none" strike="noStrike">
              <a:solidFill>
                <a:srgbClr val="61AFE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ruby {</a:t>
            </a:r>
            <a:endParaRPr lang="en-US" sz="1300" b="0" i="0" u="none" strike="noStrike">
              <a:solidFill>
                <a:srgbClr val="61AFE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5080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06C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</a:t>
            </a:r>
            <a:r>
              <a:rPr lang="en-US" sz="1300" b="0" i="0" u="none" strike="noStrike">
                <a:solidFill>
                  <a:srgbClr val="ABB2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=&gt;</a:t>
            </a:r>
            <a:r>
              <a:rPr lang="en-US" sz="1300" b="0" i="0" u="none" strike="noStrike">
                <a:solidFill>
                  <a:srgbClr val="98C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"fields['message'].split(',').each_with_index..."</a:t>
            </a:r>
            <a:endParaRPr lang="en-US" sz="1300" b="0" i="0" u="none" strike="noStrike">
              <a:solidFill>
                <a:srgbClr val="98C37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300" b="0" i="0" u="none" strike="noStrike">
              <a:solidFill>
                <a:srgbClr val="61AFE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C678D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300" b="0" i="0" u="none" strike="noStrike">
              <a:solidFill>
                <a:srgbClr val="C678D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524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0" y="1714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165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Grok 模式解析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985000" y="2032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Syslog 模式匹配，将非结构化的原始日志转换为结构化的字段，提取关键时间戳与主机信息。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984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9370D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175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11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Ruby 字段拆分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0" y="3492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Ruby 代码将逗号分隔的 filterlog 日志进一步拆分，生成 pfsense.column1 等标准化字段。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445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635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457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 Defence App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85000" y="4953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标准化的字段结构让 Defence App 能够直接识别、查询和分析网络流量日志，提升安全运维效率。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969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52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启动与验证ELK服务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01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145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启动服务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048000" y="1714500"/>
            <a:ext cx="736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docker compose up -d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66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验证服务状态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175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65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365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检查容器状态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3746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docker compose ps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3175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365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3365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检查Elasticsearch API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985000" y="3746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curl http://127.0.0.1:9200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445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635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24000" y="4635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访问Kibana界面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524000" y="5016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浏览器打开: http://服务器IP:5601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445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635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4635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检查Logstash日志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985000" y="5016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docker logs -f elk-logstash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26000" y="1397000"/>
            <a:ext cx="254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pfSense配置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3492500"/>
            <a:ext cx="1524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40E0D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5000" y="3784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826000" y="37084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远程日志转发设置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0" y="6413500"/>
            <a:ext cx="1219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4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NETWORK SECURITY &amp; MONITORING SERIES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pfSense远程日志配置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524000"/>
            <a:ext cx="4064000" cy="2286000"/>
          </a:xfrm>
          <a:prstGeom prst="roundRect">
            <a:avLst>
              <a:gd name="adj" fmla="val 5555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BFFF">
                <a:alpha val="3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064000"/>
            <a:ext cx="4064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4191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配置路径：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Status → System Logs → Settings</a:t>
            </a:r>
            <a:endParaRPr lang="en-US" sz="12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334000" y="1524000"/>
            <a:ext cx="584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1828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096000" y="165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启用远程日志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勾选</a:t>
            </a:r>
            <a:r>
              <a:rPr lang="en-US" sz="1400" b="0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Enable Remote Logging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选项以开启功能。</a:t>
            </a:r>
            <a:endParaRPr lang="en-US" sz="14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334000" y="2730500"/>
            <a:ext cx="584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8000" y="3035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096000" y="2857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配置服务器地址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sz="1400" b="0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Remote log servers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中填写：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Logstash服务器IP地址:5140</a:t>
            </a:r>
            <a:endParaRPr lang="en-US" sz="14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334000" y="3937000"/>
            <a:ext cx="584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88000" y="4241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096000" y="4064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选择日志类型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至少勾选</a:t>
            </a:r>
            <a:r>
              <a:rPr lang="en-US" sz="1400" b="0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Firewall Events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，确保防火墙日志发送。</a:t>
            </a:r>
            <a:endParaRPr lang="en-US" sz="14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524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保存配置后，pfSense 将持续向 ELK 平台发送日志数据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9370D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1397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B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05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292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Defence App部署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683000"/>
            <a:ext cx="7620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393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B4BEC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应用安装与配置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482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0" y="596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4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SECURITY ANALYSIS &amp; DEPLOYMENT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283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Defence App安装与配置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安装步骤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057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进入项目目录，准备环境初始化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03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565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创建并激活 Python 虚拟环境 (venv)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11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073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安装依赖包：</a:t>
            </a:r>
            <a:r>
              <a:rPr lang="en-US" sz="1400" b="0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pip install -r requirements.txt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3619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3581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复制环境变量模板：</a:t>
            </a:r>
            <a:r>
              <a:rPr lang="en-US" sz="1400" b="0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cp .env.example .env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70D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核心配置 (.env 文件)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095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057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ES_URL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Elasticsearch 地址，如 http://127.0.0.1:9200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2730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2692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ES_INDEX_PATTERN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日志索引匹配模式，默认 pfsense-*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3365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33274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QWEN_API_KEY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可选配置，用于启用 AI 总结功能的千问密钥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080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5270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注：配置完成后，即可启动 Defence App 服务，开始日志分析与安全监控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50A1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05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启动与守护Defence App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127000" dir="2700000" algn="tl" rotWithShape="0">
              <a:srgbClr val="00BFF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800" y="1714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2222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前台启动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730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使用以下命令启动应用服务：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00BFFF"/>
                </a:solidFill>
                <a:highlight>
                  <a:srgbClr val="000000">
                    <a:alpha val="0"/>
                  </a:srgbClr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uvicorn app.main:app --host 0.0.0.0 --port 7860</a:t>
            </a:r>
            <a:endParaRPr lang="en-US" sz="1200" b="0" i="0" u="none" strike="noStrike">
              <a:solidFill>
                <a:srgbClr val="00BFFF"/>
              </a:solidFill>
              <a:highlight>
                <a:srgbClr val="000000">
                  <a:alpha val="0"/>
                </a:srgbClr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9370DB">
                <a:alpha val="100000"/>
              </a:srgbClr>
            </a:solidFill>
            <a:prstDash val="solid"/>
            <a:round/>
          </a:ln>
          <a:effectLst>
            <a:outerShdw blurRad="127000" dir="2700000" algn="tl" rotWithShape="0">
              <a:srgbClr val="9370DB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1714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222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验证服务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730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方式一：浏览器访问端口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370DB"/>
                </a:solidFill>
                <a:highlight>
                  <a:srgbClr val="000000">
                    <a:alpha val="0"/>
                  </a:srgbClr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http://服务器IP:7860</a:t>
            </a:r>
            <a:endParaRPr lang="en-US" sz="1200" b="0" i="0" u="none" strike="noStrike">
              <a:solidFill>
                <a:srgbClr val="9370DB"/>
              </a:solidFill>
              <a:highlight>
                <a:srgbClr val="000000">
                  <a:alpha val="0"/>
                </a:srgbClr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方式二：命令行健康检查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370DB"/>
                </a:solidFill>
                <a:highlight>
                  <a:srgbClr val="000000">
                    <a:alpha val="0"/>
                  </a:srgbClr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curl http://127.0.0.1:7860/api/health</a:t>
            </a:r>
            <a:endParaRPr lang="en-US" sz="1200" b="0" i="0" u="none" strike="noStrike">
              <a:solidFill>
                <a:srgbClr val="9370DB"/>
              </a:solidFill>
              <a:highlight>
                <a:srgbClr val="000000">
                  <a:alpha val="0"/>
                </a:srgbClr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127000" dir="2700000" algn="tl" rotWithShape="0">
              <a:srgbClr val="00BFF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75800" y="1714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255000" y="2222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开机自启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2730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推荐使用</a:t>
            </a:r>
            <a:r>
              <a:rPr lang="en-US" sz="1400" b="0" i="0" u="none" strike="noStrike">
                <a:solidFill>
                  <a:srgbClr val="00B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systemd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创建服务文件，确保应用在服务器重启后能自动运行，保障服务的高可用性。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9370D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24000" y="1651000"/>
            <a:ext cx="26797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74800" y="2921000"/>
            <a:ext cx="1790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spc="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00200" y="3556000"/>
            <a:ext cx="7620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74800" y="3810000"/>
            <a:ext cx="223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日志检索与AI分析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5200" y="3022600"/>
            <a:ext cx="812800" cy="812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0" y="6096000"/>
            <a:ext cx="1219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CHAPTER 06 / FUNCTION DEMONSTRATION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Defence App核心功能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826000" cy="2857500"/>
          </a:xfrm>
          <a:prstGeom prst="roundRect">
            <a:avLst>
              <a:gd name="adj" fmla="val 444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9000" y="1790700"/>
            <a:ext cx="4572000" cy="2571750"/>
          </a:xfrm>
          <a:prstGeom prst="roundRect">
            <a:avLst>
              <a:gd name="adj" fmla="val 493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4635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Defence App 界面示意图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6000" y="1524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0" y="1828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94500" y="1676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日志检索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94500" y="2032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支持按IP地址或时间范围快速查询，结果以可视化卡片形式展示。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96000" y="2667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40E0D0">
              <a:alpha val="10000"/>
            </a:srgbClr>
          </a:solidFill>
          <a:ln w="12700" cap="flat" cmpd="sng">
            <a:solidFill>
              <a:srgbClr val="40E0D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2971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794500" y="2819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可疑事件检测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794500" y="3175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自动识别阻断流量、高危端口访问及高频可疑IP，实时预警风险。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6000" y="3810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9370DB">
              <a:alpha val="10000"/>
            </a:srgbClr>
          </a:solidFill>
          <a:ln w="12700" cap="flat" cmpd="sng">
            <a:solidFill>
              <a:srgbClr val="9370D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6500" y="4114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794500" y="3962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AI总结分析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94500" y="4318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对指定日志或时间范围进行智能分析，自动生成精简的安全总结报告。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096000" y="4953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6500" y="52578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94500" y="51054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系统状态监控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794500" y="5461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提供健康检查接口，实时监控Elasticsearch、AI服务及定时任务状态。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1397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0B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07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2794000"/>
            <a:ext cx="1524000" cy="50800"/>
          </a:xfrm>
          <a:prstGeom prst="roundRect">
            <a:avLst>
              <a:gd name="adj" fmla="val 5000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304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关键配置与接口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3683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9370D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核心参数与 API 说明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431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9370D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关键配置项与核心API接口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关键配置项 (Key Configurations)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222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ES_URL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Elasticsearch 集群地址，数据存储核心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857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794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QWEN_API_KEY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服务鉴权密钥，用于调用智能分析能力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365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DETECTION_WINDOW_MINUTES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定时检测窗口大小，单位：分钟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00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3937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RISKY_PORTS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定义高危端口列表，用于异常流量识别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70D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核心API接口 (Core APIs)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222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 /api/search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按关键词、时间范围等条件搜索日志数据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2857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2794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 /api/detect/latest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获取最新的安全检测结果与告警信息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3429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3365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 /api/ai/test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测试AI服务连通性及模型响应状态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04000" y="4000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3937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 /api/health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系统健康检查，返回服务运行状态指标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通过配置调整与API调用，实现系统的灵活定制与自动化运维集成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1524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921000"/>
            <a:ext cx="762000" cy="508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问题排查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393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常见故障与解决方案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4826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常见问题与解决方案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587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Q1: Kibana能打开，但Defence App查不到日志？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1968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A: 检查.env文件中的ES_INDEX_PATTERN是否正确，确保日志索引确实存在，并且查询的时间范围是正确的。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921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40E0D0">
              <a:alpha val="1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65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111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0E0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Q2: pfSense已发日志，但ES没有数据？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3492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A: 检查pfSense的远程日志服务器地址是否正确，Logstash的5140端口是否开放，以及Logstash的日志是否有报错信息。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445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9370DB">
              <a:alpha val="10000"/>
            </a:srgbClr>
          </a:solidFill>
          <a:ln w="12700" cap="flat" cmpd="sng">
            <a:solidFill>
              <a:srgbClr val="9370D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89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4635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Q3: AI总结未返回结果？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778000" y="5016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A: 检查.env文件中的QWEN_API_KEY是否配置正确，服务器是否能访问外网，以及AI服务是否正常。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52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E5E7EB"/>
              </a:buClr>
              <a:buFont typeface="Wingdings" panose="05000000000000000000"/>
              <a:buChar char="v"/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成功搭建完整平台：实现日志收集、存储到分析的全链路闭环。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E5E7EB"/>
              </a:buClr>
              <a:buFont typeface="Wingdings" panose="05000000000000000000"/>
              <a:buChar char="v"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技术融合创新：结合ELK强大处理能力与Defence App智能化分析。</a:t>
            </a:r>
            <a:endParaRPr lang="en-US" sz="16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03200" indent="-203200" algn="l">
              <a:lnSpc>
                <a:spcPct val="125000"/>
              </a:lnSpc>
              <a:buClr>
                <a:srgbClr val="E5E7EB"/>
              </a:buClr>
              <a:buFont typeface="Wingdings" panose="05000000000000000000"/>
              <a:buChar char="v"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部署标准化：流程可复制，支持多种环境快速搭建与扩展。</a:t>
            </a:r>
            <a:endParaRPr lang="en-US" sz="16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9370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77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752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286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E5E7EB"/>
              </a:buClr>
              <a:buFont typeface="Wingdings" panose="05000000000000000000"/>
              <a:buChar char="v"/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扩展日志源：纳入WAF、Linux系统日志等更多数据源。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E5E7EB"/>
              </a:buClr>
              <a:buFont typeface="Wingdings" panose="05000000000000000000"/>
              <a:buChar char="v"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优化检测规则：提升威胁识别精准度，减少误报。</a:t>
            </a:r>
            <a:endParaRPr lang="en-US" sz="16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03200" indent="-203200" algn="l">
              <a:lnSpc>
                <a:spcPct val="125000"/>
              </a:lnSpc>
              <a:buClr>
                <a:srgbClr val="E5E7EB"/>
              </a:buClr>
              <a:buFont typeface="Wingdings" panose="05000000000000000000"/>
              <a:buChar char="v"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增强可视化：开发更直观的报表与大屏展示功能。</a:t>
            </a:r>
            <a:endParaRPr lang="en-US" sz="16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4092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62000" y="5778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持续优化安全运营体系，构建智能化主动防御能力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50000">
                <a:srgbClr val="40E0D0">
                  <a:alpha val="100000"/>
                </a:srgbClr>
              </a:gs>
              <a:gs pos="100000">
                <a:srgbClr val="9370D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3175000"/>
            <a:ext cx="1524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40E0D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互动问答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419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科技分享会 | 智能未来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3990</Words>
  <Application>WPS 演示</Application>
  <PresentationFormat/>
  <Paragraphs>377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宋体</vt:lpstr>
      <vt:lpstr>Wingdings</vt:lpstr>
      <vt:lpstr>Arial</vt:lpstr>
      <vt:lpstr>Noto Sans SC</vt:lpstr>
      <vt:lpstr>Source Code Pro</vt:lpstr>
      <vt:lpstr>AMGDT</vt:lpstr>
      <vt:lpstr>微软雅黑</vt:lpstr>
      <vt:lpstr>Arial Unicode MS</vt:lpstr>
      <vt:lpstr>DIN Alternate</vt:lpstr>
      <vt:lpstr>黑体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张宇航</cp:lastModifiedBy>
  <cp:revision>1</cp:revision>
  <dcterms:created xsi:type="dcterms:W3CDTF">2026-03-16T12:12:47Z</dcterms:created>
  <dcterms:modified xsi:type="dcterms:W3CDTF">2026-03-16T12:12:47Z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54FF0E32CDA74ED4AB5837290B911052_12</vt:lpwstr>
  </property>
  <property fmtid="{D5CDD505-2E9C-101B-9397-08002B2CF9AE}" pid="3" name="KSOProductBuildVer">
    <vt:lpwstr>2052-12.1.0.23542</vt:lpwstr>
  </property>
</Properties>
</file>